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Arial Black" panose="020B0A04020102020204" pitchFamily="34" charset="0"/>
      <p:bold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R11REwHC/Ip1Vi3CkvLRBRZ9W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8CF3E-4541-4F63-A0B4-6A31913679BF}">
  <a:tblStyle styleId="{9738CF3E-4541-4F63-A0B4-6A31913679B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2" y="-5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49fa916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2749fa916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62ac0d44c2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62ac0d44c2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76d793ec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76d793ec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>
            <a:spLocks noGrp="1"/>
          </p:cNvSpPr>
          <p:nvPr>
            <p:ph type="title"/>
          </p:nvPr>
        </p:nvSpPr>
        <p:spPr>
          <a:xfrm>
            <a:off x="438150" y="1609089"/>
            <a:ext cx="8267700" cy="19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400" b="1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body" idx="1"/>
          </p:nvPr>
        </p:nvSpPr>
        <p:spPr>
          <a:xfrm>
            <a:off x="388937" y="1603438"/>
            <a:ext cx="8366100" cy="17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700" b="1" i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2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B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>
          <a:xfrm>
            <a:off x="848214" y="1161753"/>
            <a:ext cx="202561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96C3F0"/>
                </a:solidFill>
                <a:latin typeface="Arial Black" panose="020B0A04020102020204" pitchFamily="34" charset="0"/>
              </a:rPr>
              <a:t>CASE STUDY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" y="1640323"/>
            <a:ext cx="1042416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dirty="0">
                <a:solidFill>
                  <a:srgbClr val="FFFFFF"/>
                </a:solidFill>
                <a:latin typeface="Arial Black" panose="020B0A04020102020204" pitchFamily="34" charset="0"/>
              </a:rPr>
              <a:t>Project Management Planning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672" y="2725132"/>
            <a:ext cx="96012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DCE8F7"/>
                </a:solidFill>
                <a:latin typeface="+mn-lt"/>
              </a:rPr>
              <a:t>Website Development Project — </a:t>
            </a:r>
            <a:r>
              <a:rPr sz="1800" b="0" dirty="0" err="1">
                <a:solidFill>
                  <a:srgbClr val="DCE8F7"/>
                </a:solidFill>
                <a:latin typeface="+mn-lt"/>
              </a:rPr>
              <a:t>KantorIn</a:t>
            </a:r>
            <a:endParaRPr sz="1800" b="0" dirty="0">
              <a:solidFill>
                <a:srgbClr val="DCE8F7"/>
              </a:solidFill>
              <a:latin typeface="+mn-lt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04672" y="3071277"/>
            <a:ext cx="8686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BECDE1"/>
                </a:solidFill>
                <a:latin typeface="+mn-lt"/>
              </a:rPr>
              <a:t>Project planning portfolio based on </a:t>
            </a:r>
            <a:r>
              <a:rPr sz="1200" b="0" dirty="0" err="1">
                <a:solidFill>
                  <a:srgbClr val="BECDE1"/>
                </a:solidFill>
                <a:latin typeface="+mn-lt"/>
              </a:rPr>
              <a:t>MySkill</a:t>
            </a:r>
            <a:r>
              <a:rPr sz="1200" b="0" dirty="0">
                <a:solidFill>
                  <a:srgbClr val="BECDE1"/>
                </a:solidFill>
                <a:latin typeface="+mn-lt"/>
              </a:rPr>
              <a:t> case study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672" y="5257800"/>
            <a:ext cx="4572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rial Black" panose="020B0A04020102020204" pitchFamily="34" charset="0"/>
              </a:rPr>
              <a:t>Dhandy Syahmai Pattiasina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" y="5623560"/>
            <a:ext cx="5029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BECDE1"/>
                </a:solidFill>
                <a:latin typeface="+mn-lt"/>
              </a:rPr>
              <a:t>Project Manager — simulated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68"/>
          <p:cNvSpPr txBox="1"/>
          <p:nvPr/>
        </p:nvSpPr>
        <p:spPr>
          <a:xfrm>
            <a:off x="550818" y="411480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92D4B"/>
                </a:solidFill>
                <a:latin typeface="Arial Black" panose="020B0A04020102020204" pitchFamily="34" charset="0"/>
              </a:rPr>
              <a:t>Case Study Overview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" y="932688"/>
            <a:ext cx="10881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 err="1">
                <a:solidFill>
                  <a:srgbClr val="697078"/>
                </a:solidFill>
                <a:latin typeface="+mn-lt"/>
              </a:rPr>
              <a:t>Konteks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proyek</a:t>
            </a:r>
            <a:r>
              <a:rPr b="0" dirty="0">
                <a:solidFill>
                  <a:srgbClr val="697078"/>
                </a:solidFill>
                <a:latin typeface="+mn-lt"/>
              </a:rPr>
              <a:t> dan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asumsi</a:t>
            </a:r>
            <a:r>
              <a:rPr b="0" dirty="0">
                <a:solidFill>
                  <a:srgbClr val="697078"/>
                </a:solidFill>
                <a:latin typeface="+mn-lt"/>
              </a:rPr>
              <a:t> yang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digunakan</a:t>
            </a:r>
            <a:endParaRPr b="0" dirty="0">
              <a:solidFill>
                <a:srgbClr val="697078"/>
              </a:solidFill>
              <a:latin typeface="+mn-lt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59436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94360" y="1417320"/>
            <a:ext cx="64008" cy="182880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5528" y="1563624"/>
            <a:ext cx="3154679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92D4B"/>
                </a:solidFill>
                <a:latin typeface="Arial Black" panose="020B0A04020102020204" pitchFamily="34" charset="0"/>
              </a:rPr>
              <a:t>Business Context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95528" y="1947672"/>
            <a:ext cx="3127248" cy="10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282828"/>
                </a:solidFill>
                <a:latin typeface="+mn-lt"/>
              </a:rPr>
              <a:t>KantorIn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adalah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startup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jual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beli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dan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sewa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peralatan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kantor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yang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membutuhkan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website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untuk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mendukung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proses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katalog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,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transaksi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, dan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pengelolaan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akun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pengguna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4343400" y="1417320"/>
            <a:ext cx="64008" cy="18288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544568" y="1563624"/>
            <a:ext cx="3154679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92D4B"/>
                </a:solidFill>
                <a:latin typeface="Arial Black" panose="020B0A04020102020204" pitchFamily="34" charset="0"/>
              </a:rPr>
              <a:t>Project Goal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44568" y="1947672"/>
            <a:ext cx="3127248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 err="1">
                <a:solidFill>
                  <a:srgbClr val="282828"/>
                </a:solidFill>
                <a:latin typeface="+mn-lt"/>
              </a:rPr>
              <a:t>Mengembangkan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website MVP yang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dapat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digunakan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pelanggan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untuk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mencari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produk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,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melihat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detail,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melakukan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pemesanan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/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sewa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,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serta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membantu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admin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mengelola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produk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 dan </a:t>
            </a:r>
            <a:r>
              <a:rPr sz="1300" b="0" dirty="0" err="1">
                <a:solidFill>
                  <a:srgbClr val="282828"/>
                </a:solidFill>
                <a:latin typeface="+mn-lt"/>
              </a:rPr>
              <a:t>transaksi</a:t>
            </a:r>
            <a:r>
              <a:rPr sz="1300" b="0" dirty="0">
                <a:solidFill>
                  <a:srgbClr val="282828"/>
                </a:solidFill>
                <a:latin typeface="+mn-lt"/>
              </a:rPr>
              <a:t>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9244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092440" y="1417320"/>
            <a:ext cx="64008" cy="1828800"/>
          </a:xfrm>
          <a:prstGeom prst="rect">
            <a:avLst/>
          </a:prstGeom>
          <a:solidFill>
            <a:srgbClr val="E1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293608" y="1563624"/>
            <a:ext cx="3154679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Planning Assumptions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93608" y="1947672"/>
            <a:ext cx="3127248" cy="10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Durasi 8 minggu, tim 6 orang, anggaran asumsi Rp120 juta, pengembangan menggunakan pendekatan bertahap dengan review stakeholder pada milestone utama.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" y="3703320"/>
            <a:ext cx="36576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Dokumen</a:t>
            </a:r>
            <a:r>
              <a:rPr sz="1800" b="1" dirty="0">
                <a:solidFill>
                  <a:srgbClr val="192D4B"/>
                </a:solidFill>
                <a:latin typeface="Arial Black" panose="020B0A04020102020204" pitchFamily="34" charset="0"/>
              </a:rPr>
              <a:t> yang </a:t>
            </a:r>
            <a:r>
              <a:rPr sz="18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disiapkan</a:t>
            </a:r>
            <a:endParaRPr sz="1800" b="1" dirty="0">
              <a:solidFill>
                <a:srgbClr val="192D4B"/>
              </a:solidFill>
              <a:latin typeface="Arial Black" panose="020B0A04020102020204" pitchFamily="34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77240" y="4160520"/>
            <a:ext cx="1042416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82828"/>
                </a:solidFill>
                <a:latin typeface="Aptos"/>
              </a:defRPr>
            </a:pPr>
            <a:r>
              <a:rPr sz="1600" dirty="0">
                <a:latin typeface="+mn-lt"/>
              </a:rPr>
              <a:t>• Project Charter — </a:t>
            </a:r>
            <a:r>
              <a:rPr sz="1600" dirty="0" err="1">
                <a:latin typeface="+mn-lt"/>
              </a:rPr>
              <a:t>tujuan</a:t>
            </a:r>
            <a:r>
              <a:rPr sz="1600" dirty="0">
                <a:latin typeface="+mn-lt"/>
              </a:rPr>
              <a:t>, scope, stakeholder, resource, dan output </a:t>
            </a:r>
            <a:r>
              <a:rPr sz="1600" dirty="0" err="1">
                <a:latin typeface="+mn-lt"/>
              </a:rPr>
              <a:t>proyek</a:t>
            </a:r>
            <a:endParaRPr sz="1600" dirty="0">
              <a:latin typeface="+mn-lt"/>
            </a:endParaRPr>
          </a:p>
          <a:p>
            <a:pPr>
              <a:spcAft>
                <a:spcPts val="500"/>
              </a:spcAft>
              <a:defRPr sz="1200">
                <a:solidFill>
                  <a:srgbClr val="282828"/>
                </a:solidFill>
                <a:latin typeface="Aptos"/>
              </a:defRPr>
            </a:pPr>
            <a:r>
              <a:rPr sz="1600" dirty="0">
                <a:latin typeface="+mn-lt"/>
              </a:rPr>
              <a:t>• Work Breakdown Structure (WBS) — </a:t>
            </a:r>
            <a:r>
              <a:rPr sz="1600" dirty="0" err="1">
                <a:latin typeface="+mn-lt"/>
              </a:rPr>
              <a:t>pemecahan</a:t>
            </a:r>
            <a:r>
              <a:rPr sz="1600" dirty="0">
                <a:latin typeface="+mn-lt"/>
              </a:rPr>
              <a:t> </a:t>
            </a:r>
            <a:r>
              <a:rPr sz="1600" dirty="0" err="1">
                <a:latin typeface="+mn-lt"/>
              </a:rPr>
              <a:t>pekerjaan</a:t>
            </a:r>
            <a:r>
              <a:rPr sz="1600" dirty="0">
                <a:latin typeface="+mn-lt"/>
              </a:rPr>
              <a:t> </a:t>
            </a:r>
            <a:r>
              <a:rPr sz="1600" dirty="0" err="1">
                <a:latin typeface="+mn-lt"/>
              </a:rPr>
              <a:t>menjadi</a:t>
            </a:r>
            <a:r>
              <a:rPr sz="1600" dirty="0">
                <a:latin typeface="+mn-lt"/>
              </a:rPr>
              <a:t> </a:t>
            </a:r>
            <a:r>
              <a:rPr sz="1600" dirty="0" err="1">
                <a:latin typeface="+mn-lt"/>
              </a:rPr>
              <a:t>paket</a:t>
            </a:r>
            <a:r>
              <a:rPr sz="1600" dirty="0">
                <a:latin typeface="+mn-lt"/>
              </a:rPr>
              <a:t> </a:t>
            </a:r>
            <a:r>
              <a:rPr sz="1600" dirty="0" err="1">
                <a:latin typeface="+mn-lt"/>
              </a:rPr>
              <a:t>kerja</a:t>
            </a:r>
            <a:r>
              <a:rPr sz="1600" dirty="0">
                <a:latin typeface="+mn-lt"/>
              </a:rPr>
              <a:t> yang </a:t>
            </a:r>
            <a:r>
              <a:rPr sz="1600" dirty="0" err="1">
                <a:latin typeface="+mn-lt"/>
              </a:rPr>
              <a:t>terkelola</a:t>
            </a:r>
            <a:endParaRPr sz="1600" dirty="0">
              <a:latin typeface="+mn-lt"/>
            </a:endParaRPr>
          </a:p>
          <a:p>
            <a:pPr>
              <a:spcAft>
                <a:spcPts val="500"/>
              </a:spcAft>
              <a:defRPr sz="1200">
                <a:solidFill>
                  <a:srgbClr val="282828"/>
                </a:solidFill>
                <a:latin typeface="Aptos"/>
              </a:defRPr>
            </a:pPr>
            <a:r>
              <a:rPr sz="1600" dirty="0">
                <a:latin typeface="+mn-lt"/>
              </a:rPr>
              <a:t>• Project Schedule — timeline, </a:t>
            </a:r>
            <a:r>
              <a:rPr sz="1600" dirty="0" err="1">
                <a:latin typeface="+mn-lt"/>
              </a:rPr>
              <a:t>durasi</a:t>
            </a:r>
            <a:r>
              <a:rPr sz="1600" dirty="0">
                <a:latin typeface="+mn-lt"/>
              </a:rPr>
              <a:t>, dependency, dan milestone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1052" y="5897880"/>
            <a:ext cx="10789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 err="1">
                <a:solidFill>
                  <a:srgbClr val="697078"/>
                </a:solidFill>
                <a:latin typeface="+mn-lt"/>
              </a:rPr>
              <a:t>Catatan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: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seluruh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angka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,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durasi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, dan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komposisi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tim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merupakan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asumsi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untuk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kebutuhan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 case study,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sesuai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instruksi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 </a:t>
            </a:r>
            <a:r>
              <a:rPr sz="1000" b="0" dirty="0" err="1">
                <a:solidFill>
                  <a:srgbClr val="697078"/>
                </a:solidFill>
                <a:latin typeface="+mn-lt"/>
              </a:rPr>
              <a:t>materi</a:t>
            </a:r>
            <a:r>
              <a:rPr sz="1000" b="0" dirty="0">
                <a:solidFill>
                  <a:srgbClr val="697078"/>
                </a:solidFill>
                <a:latin typeface="+mn-lt"/>
              </a:rPr>
              <a:t>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" y="6473952"/>
            <a:ext cx="9601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97078"/>
                </a:solidFill>
                <a:latin typeface="+mn-lt"/>
              </a:rPr>
              <a:t>Project Management Planning | </a:t>
            </a:r>
            <a:r>
              <a:rPr sz="900" b="0" dirty="0" err="1">
                <a:solidFill>
                  <a:srgbClr val="697078"/>
                </a:solidFill>
                <a:latin typeface="+mn-lt"/>
              </a:rPr>
              <a:t>KantorIn</a:t>
            </a:r>
            <a:endParaRPr sz="900" b="0" dirty="0">
              <a:solidFill>
                <a:srgbClr val="697078"/>
              </a:solidFill>
              <a:latin typeface="+mn-lt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5"/>
          <p:cNvSpPr txBox="1"/>
          <p:nvPr/>
        </p:nvSpPr>
        <p:spPr>
          <a:xfrm>
            <a:off x="594360" y="411480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92D4B"/>
                </a:solidFill>
                <a:latin typeface="Arial Black" panose="020B0A04020102020204" pitchFamily="34" charset="0"/>
              </a:rPr>
              <a:t>Project Charter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2648" y="932688"/>
            <a:ext cx="10881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 err="1">
                <a:solidFill>
                  <a:srgbClr val="697078"/>
                </a:solidFill>
                <a:latin typeface="+mn-lt"/>
              </a:rPr>
              <a:t>Dokumen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awal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untuk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menyepakati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arah</a:t>
            </a:r>
            <a:r>
              <a:rPr b="0" dirty="0">
                <a:solidFill>
                  <a:srgbClr val="697078"/>
                </a:solidFill>
                <a:latin typeface="+mn-lt"/>
              </a:rPr>
              <a:t> dan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batasan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proyek</a:t>
            </a:r>
            <a:endParaRPr b="0" dirty="0">
              <a:solidFill>
                <a:srgbClr val="697078"/>
              </a:solidFill>
              <a:latin typeface="+mn-lt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594360" y="1325880"/>
            <a:ext cx="3657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594360" y="1325880"/>
            <a:ext cx="64008" cy="132588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795528" y="1472184"/>
            <a:ext cx="33375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92D4B"/>
                </a:solidFill>
                <a:latin typeface="Arial Black" panose="020B0A04020102020204" pitchFamily="34" charset="0"/>
              </a:rPr>
              <a:t>Tujuan </a:t>
            </a:r>
            <a:r>
              <a:rPr sz="13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Proyek</a:t>
            </a:r>
            <a:endParaRPr sz="1300" b="1" dirty="0">
              <a:solidFill>
                <a:srgbClr val="192D4B"/>
              </a:solidFill>
              <a:latin typeface="Arial Black" panose="020B0A04020102020204" pitchFamily="34" charset="0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95528" y="1856231"/>
            <a:ext cx="331012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 err="1">
                <a:solidFill>
                  <a:srgbClr val="282828"/>
                </a:solidFill>
                <a:latin typeface="+mn-lt"/>
              </a:rPr>
              <a:t>Membangun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website MVP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KantorIn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untuk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memfasilitasi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jual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beli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dan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sewa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peralatan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kantor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secara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terstruktur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,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mudah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digunakan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, dan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dapat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dikelola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oleh admin.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434840" y="1325880"/>
            <a:ext cx="34290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4434840" y="1325880"/>
            <a:ext cx="64008" cy="132588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636007" y="1472184"/>
            <a:ext cx="3108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Capaian / Success Metrics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636007" y="1856231"/>
            <a:ext cx="3081528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282828"/>
                </a:solidFill>
                <a:latin typeface="+mn-lt"/>
              </a:rPr>
              <a:t>MVP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selesai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dalam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8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minggu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;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seluruh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fitur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prioritas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tersedia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; ≥95%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skenario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UAT lulus;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tidak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ada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critical bug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saat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go-live.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046720" y="13258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8046720" y="1325880"/>
            <a:ext cx="64008" cy="1325880"/>
          </a:xfrm>
          <a:prstGeom prst="rect">
            <a:avLst/>
          </a:prstGeom>
          <a:solidFill>
            <a:srgbClr val="E1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247888" y="1472184"/>
            <a:ext cx="3200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Durasi &amp; Budget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247888" y="1856231"/>
            <a:ext cx="317296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+mn-lt"/>
              </a:rPr>
              <a:t>Durasi: 8 minggu
Budget asumsi: Rp120.000.000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94360" y="2880359"/>
            <a:ext cx="3657600" cy="2038457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594360" y="2880360"/>
            <a:ext cx="45719" cy="197739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95528" y="3026664"/>
            <a:ext cx="33375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Lingkup Pekerjaan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5528" y="3410712"/>
            <a:ext cx="3310128" cy="1508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282828"/>
                </a:solidFill>
                <a:latin typeface="+mn-lt"/>
              </a:rPr>
              <a:t>IN: requirement, UI/UX, frontend, backend/API, database,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autentikasi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,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katalog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produk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,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transaksi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jual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/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sewa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, admin dashboard, testing, deployment.
OUT: mobile app native,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integrasi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payment gateway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eksternal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lanjutan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,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fitur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AI/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rekomendasi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434840" y="2880360"/>
            <a:ext cx="3429000" cy="2038456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4434840" y="2880360"/>
            <a:ext cx="45719" cy="197739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636007" y="3026664"/>
            <a:ext cx="3108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Sumber Daya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36007" y="3410712"/>
            <a:ext cx="3081528" cy="13311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82828"/>
                </a:solidFill>
                <a:latin typeface="+mn-lt"/>
              </a:rPr>
              <a:t>• Project Manager
• UI/UX Designer
• Frontend Developer
• Backend Developer
• QA/Tester
• DevOps
• Figma, Git, database, cloud hosting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8046720" y="2880360"/>
            <a:ext cx="3520440" cy="2038456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8046720" y="2880360"/>
            <a:ext cx="45719" cy="1977390"/>
          </a:xfrm>
          <a:prstGeom prst="rect">
            <a:avLst/>
          </a:prstGeom>
          <a:solidFill>
            <a:srgbClr val="E1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247888" y="3026664"/>
            <a:ext cx="32004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Stakeholder &amp; Output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47888" y="3410712"/>
            <a:ext cx="3172968" cy="13311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282828"/>
                </a:solidFill>
                <a:latin typeface="+mn-lt"/>
              </a:rPr>
              <a:t>Stakeholder: Sponsor/Founder, Project Manager, Product Owner,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tim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teknis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, QA, dan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perwakilan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pengguna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.
Output: Project Charter, WBS, Schedule, website MVP, test report, dan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dokumen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serah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 </a:t>
            </a:r>
            <a:r>
              <a:rPr sz="1150" b="0" dirty="0" err="1">
                <a:solidFill>
                  <a:srgbClr val="282828"/>
                </a:solidFill>
                <a:latin typeface="+mn-lt"/>
              </a:rPr>
              <a:t>terima</a:t>
            </a:r>
            <a:r>
              <a:rPr sz="1150" b="0" dirty="0">
                <a:solidFill>
                  <a:srgbClr val="282828"/>
                </a:solidFill>
                <a:latin typeface="+mn-lt"/>
              </a:rPr>
              <a:t>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40079" y="5166360"/>
            <a:ext cx="1043577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92D4B"/>
                </a:solidFill>
                <a:latin typeface="Arial Black" panose="020B0A04020102020204" pitchFamily="34" charset="0"/>
              </a:rPr>
              <a:t>Approval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531620" y="5166360"/>
            <a:ext cx="68580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82828"/>
                </a:solidFill>
                <a:latin typeface="+mn-lt"/>
              </a:rPr>
              <a:t>Sponsor / Founder  •  Product Owner  •  Project Manager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94360" y="6473952"/>
            <a:ext cx="9601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97078"/>
                </a:solidFill>
                <a:latin typeface="+mn-lt"/>
              </a:rPr>
              <a:t>Project Management Planning | </a:t>
            </a:r>
            <a:r>
              <a:rPr sz="900" b="0" dirty="0" err="1">
                <a:solidFill>
                  <a:srgbClr val="697078"/>
                </a:solidFill>
                <a:latin typeface="+mn-lt"/>
              </a:rPr>
              <a:t>KantorIn</a:t>
            </a:r>
            <a:endParaRPr sz="900" b="0" dirty="0">
              <a:solidFill>
                <a:srgbClr val="697078"/>
              </a:solidFill>
              <a:latin typeface="+mn-lt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411480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92D4B"/>
                </a:solidFill>
                <a:latin typeface="Arial Black" panose="020B0A04020102020204" pitchFamily="34" charset="0"/>
              </a:rPr>
              <a:t>Work Breakdown Structure (WBS)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881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 err="1">
                <a:solidFill>
                  <a:srgbClr val="697078"/>
                </a:solidFill>
                <a:latin typeface="+mn-lt"/>
              </a:rPr>
              <a:t>Pemecahan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proyek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menjadi</a:t>
            </a:r>
            <a:r>
              <a:rPr b="0" dirty="0">
                <a:solidFill>
                  <a:srgbClr val="697078"/>
                </a:solidFill>
                <a:latin typeface="+mn-lt"/>
              </a:rPr>
              <a:t> deliverable dan work package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64008" cy="1874519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17904"/>
            <a:ext cx="2971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92D4B"/>
                </a:solidFill>
                <a:latin typeface="Arial Black" panose="020B0A04020102020204" pitchFamily="34" charset="0"/>
              </a:rPr>
              <a:t>1. Initiation &amp;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2944368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82828"/>
                </a:solidFill>
                <a:latin typeface="+mn-lt"/>
              </a:rPr>
              <a:t>• 1.1 Kick-off
• 1.2 Requirement gathering
• 1.3 Project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7160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1371600"/>
            <a:ext cx="64008" cy="1874519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1517904"/>
            <a:ext cx="2971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2. UI/UX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901952"/>
            <a:ext cx="2944368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• 2.1 User flow
• 2.2 Wireframe
• 2.3 UI design
• 2.4 Design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37160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26679" y="1371600"/>
            <a:ext cx="64008" cy="1874519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27848" y="1517904"/>
            <a:ext cx="2971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3.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1901952"/>
            <a:ext cx="2944368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• 3.1 Database
• 3.2 Backend/API
• 3.3 Frontend
• 3.4 Admin module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5760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657600"/>
            <a:ext cx="64008" cy="1874519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803904"/>
            <a:ext cx="2971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4. 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187952"/>
            <a:ext cx="2944368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• 4.1 Test plan
• 4.2 Functional testing
• 4.3 Integration/UAT
• 4.4 Bug fixing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5760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657600"/>
            <a:ext cx="64008" cy="1874519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61688" y="3803904"/>
            <a:ext cx="2971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5.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4187952"/>
            <a:ext cx="2944368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• 5.1 Server setup
• 5.2 Deployment
• 5.3 Security check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3657600"/>
            <a:ext cx="32918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26679" y="3657600"/>
            <a:ext cx="64008" cy="1874519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27848" y="3803904"/>
            <a:ext cx="2971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6. Closing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4187952"/>
            <a:ext cx="2944368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• 6.1 Documentation
• 6.2 Handover
• 6.3 Project sign-off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9601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97078"/>
                </a:solidFill>
                <a:latin typeface="+mn-lt"/>
              </a:rPr>
              <a:t>Project Management Planning | </a:t>
            </a:r>
            <a:r>
              <a:rPr sz="900" b="0" dirty="0" err="1">
                <a:solidFill>
                  <a:srgbClr val="697078"/>
                </a:solidFill>
                <a:latin typeface="+mn-lt"/>
              </a:rPr>
              <a:t>KantorIn</a:t>
            </a:r>
            <a:endParaRPr sz="900" b="0" dirty="0">
              <a:solidFill>
                <a:srgbClr val="697078"/>
              </a:solidFill>
              <a:latin typeface="+mn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411480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92D4B"/>
                </a:solidFill>
                <a:latin typeface="+mn-lt"/>
              </a:rPr>
              <a:t>Project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881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>
                <a:solidFill>
                  <a:srgbClr val="697078"/>
                </a:solidFill>
                <a:latin typeface="+mn-lt"/>
              </a:rPr>
              <a:t>Timeline 8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minggu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dengan</a:t>
            </a:r>
            <a:r>
              <a:rPr b="0" dirty="0">
                <a:solidFill>
                  <a:srgbClr val="697078"/>
                </a:solidFill>
                <a:latin typeface="+mn-lt"/>
              </a:rPr>
              <a:t> dependency dan milestone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utama</a:t>
            </a:r>
            <a:endParaRPr b="0" dirty="0">
              <a:solidFill>
                <a:srgbClr val="697078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3749039" cy="438912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99032"/>
            <a:ext cx="3749039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 Black" panose="020B0A04020102020204" pitchFamily="34" charset="0"/>
              </a:rPr>
              <a:t>Work Package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59" y="1325880"/>
            <a:ext cx="822960" cy="438912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51959" y="1399032"/>
            <a:ext cx="822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 Black" panose="020B0A04020102020204" pitchFamily="34" charset="0"/>
              </a:rPr>
              <a:t>W1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325880"/>
            <a:ext cx="822960" cy="438912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1399032"/>
            <a:ext cx="822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 Black" panose="020B0A04020102020204" pitchFamily="34" charset="0"/>
              </a:rPr>
              <a:t>W2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325880"/>
            <a:ext cx="822960" cy="438912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1399032"/>
            <a:ext cx="822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rial Black" panose="020B0A04020102020204" pitchFamily="34" charset="0"/>
              </a:rPr>
              <a:t>W3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0840" y="1325880"/>
            <a:ext cx="822960" cy="438912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399032"/>
            <a:ext cx="822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 panose="020B0A04020102020204" pitchFamily="34" charset="0"/>
              </a:rPr>
              <a:t>W4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43800" y="1325880"/>
            <a:ext cx="822960" cy="438912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0" y="1399032"/>
            <a:ext cx="822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 panose="020B0A04020102020204" pitchFamily="34" charset="0"/>
              </a:rPr>
              <a:t>W5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1325880"/>
            <a:ext cx="822960" cy="438912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399032"/>
            <a:ext cx="822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 panose="020B0A04020102020204" pitchFamily="34" charset="0"/>
              </a:rPr>
              <a:t>W6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1325880"/>
            <a:ext cx="822960" cy="438912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1399032"/>
            <a:ext cx="822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 panose="020B0A04020102020204" pitchFamily="34" charset="0"/>
              </a:rPr>
              <a:t>W7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12680" y="1325880"/>
            <a:ext cx="822960" cy="438912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12680" y="1399032"/>
            <a:ext cx="822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 panose="020B0A04020102020204" pitchFamily="34" charset="0"/>
              </a:rPr>
              <a:t>W8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1801368"/>
            <a:ext cx="3703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82828"/>
                </a:solidFill>
                <a:latin typeface="+mn-lt"/>
              </a:rPr>
              <a:t>Initiation &amp; Requirements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1801368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74920" y="1801368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897879" y="1801368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720840" y="1801368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43800" y="1801368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366759" y="1801368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89720" y="1801368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012680" y="1801368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2322576"/>
            <a:ext cx="3703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UI/UX 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232257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74920" y="2322576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97879" y="2322576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720840" y="232257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543800" y="232257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366759" y="232257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89720" y="232257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012680" y="232257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2843784"/>
            <a:ext cx="3703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Database &amp; Backend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59" y="284378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074920" y="284378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897879" y="2843784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720840" y="2843784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543800" y="2843784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366759" y="284378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189720" y="284378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012680" y="284378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3364991"/>
            <a:ext cx="3703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Frontend Development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51959" y="3364991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074920" y="3364991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5897879" y="3364991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20840" y="3364991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7543800" y="3364991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366759" y="3364991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189720" y="3364991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012680" y="3364991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2920" y="3886200"/>
            <a:ext cx="3703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Integration &amp; Internal QA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51959" y="3886200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074920" y="3886200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897879" y="3886200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720840" y="3886200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7543800" y="3886200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366759" y="3886200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89720" y="3886200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012680" y="3886200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4407407"/>
            <a:ext cx="3703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UAT &amp; Bug Fixing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51959" y="4407407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074920" y="4407407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5897879" y="4407407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720840" y="4407407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543800" y="4407407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8366759" y="4407407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189720" y="4407407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0012680" y="4407407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2920" y="4928616"/>
            <a:ext cx="3703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Deployment &amp; Go-Live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51959" y="492861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074920" y="492861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5897879" y="492861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6720840" y="492861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7543800" y="492861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8366759" y="4928616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189720" y="4928616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012680" y="4928616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02920" y="5449824"/>
            <a:ext cx="37033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Documentation &amp; Handover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51959" y="544982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074920" y="544982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897879" y="544982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720840" y="544982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7543800" y="544982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366759" y="544982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189720" y="5449824"/>
            <a:ext cx="822960" cy="320040"/>
          </a:xfrm>
          <a:prstGeom prst="rect">
            <a:avLst/>
          </a:prstGeom>
          <a:solidFill>
            <a:srgbClr val="F4F6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0012680" y="5449824"/>
            <a:ext cx="822960" cy="320040"/>
          </a:xfrm>
          <a:prstGeom prst="rect">
            <a:avLst/>
          </a:prstGeom>
          <a:solidFill>
            <a:srgbClr val="2C64B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4360" y="5842000"/>
            <a:ext cx="10972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192D4B"/>
                </a:solidFill>
                <a:latin typeface="Arial Black" panose="020B0A04020102020204" pitchFamily="34" charset="0"/>
              </a:rPr>
              <a:t>Milestone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00200" y="5842000"/>
            <a:ext cx="97840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M1: Requirements Approved (W1)  →  M2: Design Approved (W3)  →  M3: Feature Complete (W6)  →  M4: Go-Live (W8)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94360" y="6144768"/>
            <a:ext cx="10698480" cy="238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97078"/>
                </a:solidFill>
                <a:latin typeface="+mn-lt"/>
              </a:rPr>
              <a:t>Dependency </a:t>
            </a:r>
            <a:r>
              <a:rPr sz="900" b="0" dirty="0" err="1">
                <a:solidFill>
                  <a:srgbClr val="697078"/>
                </a:solidFill>
                <a:latin typeface="+mn-lt"/>
              </a:rPr>
              <a:t>utama</a:t>
            </a:r>
            <a:r>
              <a:rPr sz="900" b="0" dirty="0">
                <a:solidFill>
                  <a:srgbClr val="697078"/>
                </a:solidFill>
                <a:latin typeface="+mn-lt"/>
              </a:rPr>
              <a:t>: requirement → design → development → integration/testing → UAT → deployment.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94360" y="6512052"/>
            <a:ext cx="9601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078"/>
                </a:solidFill>
                <a:latin typeface="+mn-lt"/>
              </a:rPr>
              <a:t>Project Management Planning | KantorIn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411480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92D4B"/>
                </a:solidFill>
                <a:latin typeface="Arial Black" panose="020B0A04020102020204" pitchFamily="34" charset="0"/>
              </a:rPr>
              <a:t>Planning &amp; Project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881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 err="1">
                <a:solidFill>
                  <a:srgbClr val="697078"/>
                </a:solidFill>
                <a:latin typeface="+mn-lt"/>
              </a:rPr>
              <a:t>Bagaimana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rencana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digunakan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sebagai</a:t>
            </a:r>
            <a:r>
              <a:rPr b="0" dirty="0">
                <a:solidFill>
                  <a:srgbClr val="697078"/>
                </a:solidFill>
                <a:latin typeface="+mn-lt"/>
              </a:rPr>
              <a:t> baseline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selama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proyek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berjalan</a:t>
            </a:r>
            <a:endParaRPr b="0" dirty="0">
              <a:solidFill>
                <a:srgbClr val="697078"/>
              </a:solidFill>
              <a:latin typeface="+mn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64008" cy="192024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17904"/>
            <a:ext cx="3108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Scope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3081528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Project Scope Statement + WBS + WBS Dictionary.
Digunakan untuk memastikan pekerjaan yang dilakukan tetap sesuai scope dan perubahan dapat dikontrol.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64008" cy="192024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517904"/>
            <a:ext cx="3108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Schedule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01952"/>
            <a:ext cx="3081528" cy="14927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Project Schedule + milestone + dependency.
Progress dibandingkan dengan baseline untuk mengidentifikasi keterlambatan dan kebutuhan penyesuaian.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71600"/>
            <a:ext cx="3429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371600"/>
            <a:ext cx="64008" cy="1920240"/>
          </a:xfrm>
          <a:prstGeom prst="rect">
            <a:avLst/>
          </a:prstGeom>
          <a:solidFill>
            <a:srgbClr val="E1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517904"/>
            <a:ext cx="3108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Performance Measurement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901952"/>
            <a:ext cx="3081528" cy="5770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82828"/>
                </a:solidFill>
                <a:latin typeface="+mn-lt"/>
              </a:rPr>
              <a:t>Output dan metrics digunakan untuk memantau pencapaian proyek, termasuk milestone, progress, variance, dan kualitas deliverable.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11880"/>
            <a:ext cx="53492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611880"/>
            <a:ext cx="64008" cy="164592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758184"/>
            <a:ext cx="50292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Communication &amp;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142232"/>
            <a:ext cx="5001768" cy="10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Weekly progress meeting • status report • issue log • action items • stakeholder update.
Fokus: status, kendala, keputusan yang dibutuhkan, dan next action.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611880"/>
            <a:ext cx="54406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611880"/>
            <a:ext cx="64008" cy="16459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73368" y="3758184"/>
            <a:ext cx="51206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Change &amp; Risk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142232"/>
            <a:ext cx="5093208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Perubahan scope dicatat dan dinilai dampaknya terhadap waktu, biaya, dan resource. Risiko dicatat dalam risk log dan diprioritaskan berdasarkan kemungkinan serta dampaknya.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715000"/>
            <a:ext cx="10789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Pendekatan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ini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mengikuti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konsep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planning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sebagai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“living document”: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rencana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menjadi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acuan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dan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dapat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diperbarui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ketika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kondisi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proyek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 </a:t>
            </a:r>
            <a:r>
              <a:rPr sz="1000" b="1" dirty="0" err="1">
                <a:solidFill>
                  <a:srgbClr val="192D4B"/>
                </a:solidFill>
                <a:latin typeface="Arial Black" panose="020B0A04020102020204" pitchFamily="34" charset="0"/>
              </a:rPr>
              <a:t>berubah</a:t>
            </a:r>
            <a:r>
              <a:rPr sz="1000" b="1" dirty="0">
                <a:solidFill>
                  <a:srgbClr val="192D4B"/>
                </a:solidFill>
                <a:latin typeface="Arial Black" panose="020B0A04020102020204" pitchFamily="34" charset="0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9601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97078"/>
                </a:solidFill>
                <a:latin typeface="+mn-lt"/>
              </a:rPr>
              <a:t>Project Management Planning | </a:t>
            </a:r>
            <a:r>
              <a:rPr sz="900" b="0" dirty="0" err="1">
                <a:solidFill>
                  <a:srgbClr val="697078"/>
                </a:solidFill>
                <a:latin typeface="+mn-lt"/>
              </a:rPr>
              <a:t>KantorIn</a:t>
            </a:r>
            <a:endParaRPr sz="900" b="0" dirty="0">
              <a:solidFill>
                <a:srgbClr val="697078"/>
              </a:solidFill>
              <a:latin typeface="+mn-lt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411480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92D4B"/>
                </a:solidFill>
                <a:latin typeface="Arial Black" panose="020B0A04020102020204" pitchFamily="34" charset="0"/>
              </a:rPr>
              <a:t>Initial Risk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8813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97078"/>
                </a:solidFill>
                <a:latin typeface="+mn-lt"/>
              </a:rPr>
              <a:t>Contoh identifikasi risiko untuk mendukung perencanaan proyek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2743200" cy="457200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71600"/>
            <a:ext cx="1371600" cy="457200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Probability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371600"/>
            <a:ext cx="1188720" cy="457200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14630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Impact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371600"/>
            <a:ext cx="5669280" cy="457200"/>
          </a:xfrm>
          <a:prstGeom prst="rect">
            <a:avLst/>
          </a:prstGeom>
          <a:solidFill>
            <a:srgbClr val="192D4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146304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Mitigation / Response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847088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" y="2062082"/>
            <a:ext cx="25968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Requirement berubah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847088"/>
            <a:ext cx="1371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10712" y="2062082"/>
            <a:ext cx="12252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Medium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1847088"/>
            <a:ext cx="11887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82312" y="2062082"/>
            <a:ext cx="104241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High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847088"/>
            <a:ext cx="56692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71032" y="2062082"/>
            <a:ext cx="552297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Baseline requirement; change request &amp; impact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596896"/>
            <a:ext cx="2743200" cy="731520"/>
          </a:xfrm>
          <a:prstGeom prst="rect">
            <a:avLst/>
          </a:prstGeom>
          <a:solidFill>
            <a:srgbClr val="F4F6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2811890"/>
            <a:ext cx="25968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Development terlambat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596896"/>
            <a:ext cx="1371600" cy="731520"/>
          </a:xfrm>
          <a:prstGeom prst="rect">
            <a:avLst/>
          </a:prstGeom>
          <a:solidFill>
            <a:srgbClr val="F4F6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410712" y="2811890"/>
            <a:ext cx="12252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60" y="2596896"/>
            <a:ext cx="1188720" cy="731520"/>
          </a:xfrm>
          <a:prstGeom prst="rect">
            <a:avLst/>
          </a:prstGeom>
          <a:solidFill>
            <a:srgbClr val="F4F6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82312" y="2811890"/>
            <a:ext cx="104241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2596896"/>
            <a:ext cx="5669280" cy="731520"/>
          </a:xfrm>
          <a:prstGeom prst="rect">
            <a:avLst/>
          </a:prstGeom>
          <a:solidFill>
            <a:srgbClr val="F4F6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71032" y="2811890"/>
            <a:ext cx="552297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Prioritization, dependency tracking, weekly progress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346704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" y="3561698"/>
            <a:ext cx="25968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Critical bug saat UAT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3346704"/>
            <a:ext cx="1371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10712" y="3561698"/>
            <a:ext cx="12252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Medium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3346704"/>
            <a:ext cx="11887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82312" y="3561698"/>
            <a:ext cx="104241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High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3346704"/>
            <a:ext cx="56692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71032" y="3561698"/>
            <a:ext cx="552297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Test plan, early integration testing, defect tracking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096512"/>
            <a:ext cx="2743200" cy="731520"/>
          </a:xfrm>
          <a:prstGeom prst="rect">
            <a:avLst/>
          </a:prstGeom>
          <a:solidFill>
            <a:srgbClr val="F4F6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" y="4311506"/>
            <a:ext cx="25968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Resource tidak tersedia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4096512"/>
            <a:ext cx="1371600" cy="731520"/>
          </a:xfrm>
          <a:prstGeom prst="rect">
            <a:avLst/>
          </a:prstGeom>
          <a:solidFill>
            <a:srgbClr val="F4F6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10712" y="4311506"/>
            <a:ext cx="12252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Low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09160" y="4096512"/>
            <a:ext cx="1188720" cy="731520"/>
          </a:xfrm>
          <a:prstGeom prst="rect">
            <a:avLst/>
          </a:prstGeom>
          <a:solidFill>
            <a:srgbClr val="F4F6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782312" y="4311506"/>
            <a:ext cx="104241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Medium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4096512"/>
            <a:ext cx="5669280" cy="731520"/>
          </a:xfrm>
          <a:prstGeom prst="rect">
            <a:avLst/>
          </a:prstGeom>
          <a:solidFill>
            <a:srgbClr val="F4F6F8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71032" y="4311506"/>
            <a:ext cx="552297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Backup resource &amp; workload allocation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846320"/>
            <a:ext cx="27432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" y="5061314"/>
            <a:ext cx="25968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Deployment issue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37560" y="4846320"/>
            <a:ext cx="137160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10712" y="5061314"/>
            <a:ext cx="122529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Low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60" y="4846320"/>
            <a:ext cx="11887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82312" y="5061314"/>
            <a:ext cx="104241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82828"/>
                </a:solidFill>
                <a:latin typeface="+mn-lt"/>
              </a:rPr>
              <a:t>High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97880" y="4846320"/>
            <a:ext cx="56692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71032" y="5061314"/>
            <a:ext cx="5522976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Staging environment, deployment checklist, rollback plan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5623560"/>
            <a:ext cx="107899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97078"/>
                </a:solidFill>
                <a:latin typeface="+mn-lt"/>
              </a:rPr>
              <a:t>Risk identification dapat menggunakan review dokumen, input tim, SWOT, Root Cause Analysis, dan lessons learned dari proyek sebelumnya.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473952"/>
            <a:ext cx="9601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97078"/>
                </a:solidFill>
                <a:latin typeface="+mn-lt"/>
              </a:rPr>
              <a:t>Project Management Planning | </a:t>
            </a:r>
            <a:r>
              <a:rPr sz="900" b="0" dirty="0" err="1">
                <a:solidFill>
                  <a:srgbClr val="697078"/>
                </a:solidFill>
                <a:latin typeface="+mn-lt"/>
              </a:rPr>
              <a:t>KantorIn</a:t>
            </a:r>
            <a:endParaRPr sz="900" b="0" dirty="0">
              <a:solidFill>
                <a:srgbClr val="697078"/>
              </a:solidFill>
              <a:latin typeface="+mn-lt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4360" y="411480"/>
            <a:ext cx="109728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192D4B"/>
                </a:solidFill>
                <a:latin typeface="Arial Black" panose="020B0A04020102020204" pitchFamily="34" charset="0"/>
              </a:rPr>
              <a:t>Portfolio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932688"/>
            <a:ext cx="10881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dirty="0" err="1">
                <a:solidFill>
                  <a:srgbClr val="697078"/>
                </a:solidFill>
                <a:latin typeface="+mn-lt"/>
              </a:rPr>
              <a:t>Kompetensi</a:t>
            </a:r>
            <a:r>
              <a:rPr b="0" dirty="0">
                <a:solidFill>
                  <a:srgbClr val="697078"/>
                </a:solidFill>
                <a:latin typeface="+mn-lt"/>
              </a:rPr>
              <a:t> yang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ditunjukkan</a:t>
            </a:r>
            <a:r>
              <a:rPr b="0" dirty="0">
                <a:solidFill>
                  <a:srgbClr val="697078"/>
                </a:solidFill>
                <a:latin typeface="+mn-lt"/>
              </a:rPr>
              <a:t> </a:t>
            </a:r>
            <a:r>
              <a:rPr b="0" dirty="0" err="1">
                <a:solidFill>
                  <a:srgbClr val="697078"/>
                </a:solidFill>
                <a:latin typeface="+mn-lt"/>
              </a:rPr>
              <a:t>melalui</a:t>
            </a:r>
            <a:r>
              <a:rPr b="0" dirty="0">
                <a:solidFill>
                  <a:srgbClr val="697078"/>
                </a:solidFill>
                <a:latin typeface="+mn-lt"/>
              </a:rPr>
              <a:t> case study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160020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472184"/>
            <a:ext cx="3108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Project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856231"/>
            <a:ext cx="3081528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Menyusun Project Charter, WBS, baseline scope, serta project schedule berdasarkan tujuan dan kebutuhan proyek.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1600200"/>
          </a:xfrm>
          <a:prstGeom prst="rect">
            <a:avLst/>
          </a:prstGeom>
          <a:solidFill>
            <a:srgbClr val="2E7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472184"/>
            <a:ext cx="3108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Data &amp; Reporting Mindset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56231"/>
            <a:ext cx="3081528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Mendefinisikan success metrics, milestone, progress tracking, variance, dan reporting sebagai dasar monitoring proyek.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32588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325880"/>
            <a:ext cx="64008" cy="1600200"/>
          </a:xfrm>
          <a:prstGeom prst="rect">
            <a:avLst/>
          </a:prstGeom>
          <a:solidFill>
            <a:srgbClr val="E1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472184"/>
            <a:ext cx="310896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92D4B"/>
                </a:solidFill>
                <a:latin typeface="Arial Black" panose="020B0A04020102020204" pitchFamily="34" charset="0"/>
              </a:rPr>
              <a:t>Risk &amp; Issue Awareness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1856231"/>
            <a:ext cx="3081528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82828"/>
                </a:solidFill>
                <a:latin typeface="+mn-lt"/>
              </a:rPr>
              <a:t>Mengidentifikasi risiko, impact, mitigation, dependency, serta kebutuhan change control sebelum dan selama pelaksanaan proyek.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92D4B"/>
                </a:solidFill>
                <a:latin typeface="Arial Black" panose="020B0A04020102020204" pitchFamily="34" charset="0"/>
              </a:rPr>
              <a:t>Tools &amp; Artefacts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40480"/>
            <a:ext cx="4206240" cy="1349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 sz="1300" dirty="0">
                <a:latin typeface="+mn-lt"/>
              </a:rPr>
              <a:t>• Project Charter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 sz="1300" dirty="0">
                <a:latin typeface="+mn-lt"/>
              </a:rPr>
              <a:t>• Work Breakdown Structure (WBS)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 sz="1300" dirty="0">
                <a:latin typeface="+mn-lt"/>
              </a:rPr>
              <a:t>• Project Schedule &amp; Milestones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 sz="1300" dirty="0">
                <a:latin typeface="+mn-lt"/>
              </a:rPr>
              <a:t>• Risk Register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 sz="1300" dirty="0">
                <a:latin typeface="+mn-lt"/>
              </a:rPr>
              <a:t>• Progress / Status Reporting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429000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92D4B"/>
                </a:solidFill>
                <a:latin typeface="Arial Black" panose="020B0A04020102020204" pitchFamily="34" charset="0"/>
              </a:rPr>
              <a:t>Relevansi Karier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840480"/>
            <a:ext cx="5303520" cy="1220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 sz="1300">
                <a:latin typeface="+mn-lt"/>
              </a:rPr>
              <a:t>• Data Analyst / Reporting: monitoring KPI, progress, dan reporting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 sz="1300">
                <a:latin typeface="+mn-lt"/>
              </a:rPr>
              <a:t>• Inventory Control &amp; Data: planning, tracking, resource, dan issue monitoring</a:t>
            </a:r>
          </a:p>
          <a:p>
            <a:pPr>
              <a:spcAft>
                <a:spcPts val="500"/>
              </a:spcAft>
              <a:defRPr sz="1150">
                <a:solidFill>
                  <a:srgbClr val="282828"/>
                </a:solidFill>
                <a:latin typeface="Aptos"/>
              </a:defRPr>
            </a:pPr>
            <a:r>
              <a:rPr sz="1300">
                <a:latin typeface="+mn-lt"/>
              </a:rPr>
              <a:t>• Project-based work: koordinasi, dokumentasi, timeline, dan stakeholder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1069848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97078"/>
                </a:solidFill>
                <a:latin typeface="+mn-lt"/>
              </a:rPr>
              <a:t>Case study ini menggunakan asumsi dan dibuat untuk menunjukkan penerapan konsep Project Management Planning secara praktis.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9601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97078"/>
                </a:solidFill>
                <a:latin typeface="+mn-lt"/>
              </a:rPr>
              <a:t>Project Management Planning | KantorIn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0</TotalTime>
  <Words>1101</Words>
  <Application>Microsoft Office PowerPoint</Application>
  <PresentationFormat>Widescreen</PresentationFormat>
  <Paragraphs>144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Black</vt:lpstr>
      <vt:lpstr>Aptos</vt:lpstr>
      <vt:lpstr>Roboto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Dhandy Syahmai Pattiasina</cp:lastModifiedBy>
  <cp:revision>1</cp:revision>
  <dcterms:modified xsi:type="dcterms:W3CDTF">2026-09-07T18:20:47Z</dcterms:modified>
</cp:coreProperties>
</file>